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Quattrocento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64">
          <p15:clr>
            <a:srgbClr val="A4A3A4"/>
          </p15:clr>
        </p15:guide>
        <p15:guide id="2" pos="3840">
          <p15:clr>
            <a:srgbClr val="A4A3A4"/>
          </p15:clr>
        </p15:guide>
        <p15:guide id="3" pos="456">
          <p15:clr>
            <a:srgbClr val="A4A3A4"/>
          </p15:clr>
        </p15:guide>
        <p15:guide id="4" pos="72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64" orient="horz"/>
        <p:guide pos="3840"/>
        <p:guide pos="456"/>
        <p:guide pos="720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Quattrocento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italic.fntdata"/><Relationship Id="rId14" Type="http://schemas.openxmlformats.org/officeDocument/2006/relationships/font" Target="fonts/QuattrocentoSans-bold.fntdata"/><Relationship Id="rId16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de54100eb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cde54100eb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cde54100eb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 объекта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207674" y="1185786"/>
            <a:ext cx="4845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Определение экспериментальных групп мозговой ткани по рамановским спектрам с помощью машинного обучения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131917" y="4960430"/>
            <a:ext cx="4320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6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Илькаева Анастасия, Утушкин Евгений, Яцун Игорь</a:t>
            </a:r>
            <a:endParaRPr b="0" i="1" sz="16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7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команда Bokom_m</a:t>
            </a:r>
            <a:endParaRPr b="1" sz="1500"/>
          </a:p>
        </p:txBody>
      </p:sp>
      <p:grpSp>
        <p:nvGrpSpPr>
          <p:cNvPr id="91" name="Google Shape;91;p13"/>
          <p:cNvGrpSpPr/>
          <p:nvPr/>
        </p:nvGrpSpPr>
        <p:grpSpPr>
          <a:xfrm>
            <a:off x="2950669" y="-4116586"/>
            <a:ext cx="14287416" cy="14624732"/>
            <a:chOff x="2950669" y="-4116586"/>
            <a:chExt cx="14287416" cy="14624732"/>
          </a:xfrm>
        </p:grpSpPr>
        <p:sp>
          <p:nvSpPr>
            <p:cNvPr id="92" name="Google Shape;92;p13"/>
            <p:cNvSpPr/>
            <p:nvPr/>
          </p:nvSpPr>
          <p:spPr>
            <a:xfrm rot="9420272">
              <a:off x="4855953" y="-2246936"/>
              <a:ext cx="8673602" cy="11518530"/>
            </a:xfrm>
            <a:custGeom>
              <a:rect b="b" l="l" r="r" t="t"/>
              <a:pathLst>
                <a:path extrusionOk="0" h="3315" w="2492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 rot="9420272">
              <a:off x="6728169" y="-2833465"/>
              <a:ext cx="8756898" cy="10755935"/>
            </a:xfrm>
            <a:custGeom>
              <a:rect b="b" l="l" r="r" t="t"/>
              <a:pathLst>
                <a:path extrusionOk="0" h="3095" w="2516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 rot="9420272">
              <a:off x="6004610" y="-1464437"/>
              <a:ext cx="7570430" cy="10122905"/>
            </a:xfrm>
            <a:custGeom>
              <a:rect b="b" l="l" r="r" t="t"/>
              <a:pathLst>
                <a:path extrusionOk="0" h="2913" w="2175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0">
                  <a:srgbClr val="882BE5"/>
                </a:gs>
                <a:gs pos="19000">
                  <a:srgbClr val="6672E4"/>
                </a:gs>
                <a:gs pos="100000">
                  <a:srgbClr val="7CEFD8"/>
                </a:gs>
              </a:gsLst>
              <a:lin ang="10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3"/>
          <p:cNvSpPr txBox="1"/>
          <p:nvPr/>
        </p:nvSpPr>
        <p:spPr>
          <a:xfrm>
            <a:off x="131931" y="4258291"/>
            <a:ext cx="486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Это изображение содержит рисунок мужчины с бородой. " id="101" name="Google Shape;101;p14"/>
          <p:cNvGrpSpPr/>
          <p:nvPr/>
        </p:nvGrpSpPr>
        <p:grpSpPr>
          <a:xfrm>
            <a:off x="283717" y="1309164"/>
            <a:ext cx="4430272" cy="6043606"/>
            <a:chOff x="117404" y="1951388"/>
            <a:chExt cx="3810340" cy="5197917"/>
          </a:xfrm>
        </p:grpSpPr>
        <p:sp>
          <p:nvSpPr>
            <p:cNvPr id="102" name="Google Shape;102;p14"/>
            <p:cNvSpPr/>
            <p:nvPr/>
          </p:nvSpPr>
          <p:spPr>
            <a:xfrm>
              <a:off x="218769" y="2438400"/>
              <a:ext cx="3131996" cy="3131996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71000">
                  <a:srgbClr val="6672E4"/>
                </a:gs>
                <a:gs pos="100000">
                  <a:srgbClr val="882BE5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3" name="Google Shape;103;p14"/>
            <p:cNvGrpSpPr/>
            <p:nvPr/>
          </p:nvGrpSpPr>
          <p:grpSpPr>
            <a:xfrm>
              <a:off x="524849" y="2442817"/>
              <a:ext cx="2749416" cy="4706488"/>
              <a:chOff x="209099" y="1340526"/>
              <a:chExt cx="3468002" cy="5936574"/>
            </a:xfrm>
          </p:grpSpPr>
          <p:sp>
            <p:nvSpPr>
              <p:cNvPr id="104" name="Google Shape;104;p14"/>
              <p:cNvSpPr/>
              <p:nvPr/>
            </p:nvSpPr>
            <p:spPr>
              <a:xfrm>
                <a:off x="2096528" y="3310241"/>
                <a:ext cx="1340572" cy="1498286"/>
              </a:xfrm>
              <a:custGeom>
                <a:rect b="b" l="l" r="r" t="t"/>
                <a:pathLst>
                  <a:path extrusionOk="0" h="562" w="502">
                    <a:moveTo>
                      <a:pt x="210" y="73"/>
                    </a:moveTo>
                    <a:cubicBezTo>
                      <a:pt x="210" y="73"/>
                      <a:pt x="450" y="325"/>
                      <a:pt x="463" y="365"/>
                    </a:cubicBezTo>
                    <a:cubicBezTo>
                      <a:pt x="475" y="405"/>
                      <a:pt x="502" y="535"/>
                      <a:pt x="463" y="549"/>
                    </a:cubicBezTo>
                    <a:cubicBezTo>
                      <a:pt x="423" y="562"/>
                      <a:pt x="161" y="540"/>
                      <a:pt x="81" y="311"/>
                    </a:cubicBezTo>
                    <a:cubicBezTo>
                      <a:pt x="0" y="81"/>
                      <a:pt x="30" y="9"/>
                      <a:pt x="48" y="5"/>
                    </a:cubicBezTo>
                    <a:cubicBezTo>
                      <a:pt x="66" y="0"/>
                      <a:pt x="157" y="17"/>
                      <a:pt x="210" y="73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4BC9"/>
                  </a:gs>
                  <a:gs pos="78000">
                    <a:srgbClr val="16286E"/>
                  </a:gs>
                  <a:gs pos="100000">
                    <a:srgbClr val="16286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>
                <a:off x="1614814" y="1340526"/>
                <a:ext cx="1248001" cy="2249144"/>
              </a:xfrm>
              <a:custGeom>
                <a:rect b="b" l="l" r="r" t="t"/>
                <a:pathLst>
                  <a:path extrusionOk="0" h="844" w="467">
                    <a:moveTo>
                      <a:pt x="413" y="409"/>
                    </a:moveTo>
                    <a:cubicBezTo>
                      <a:pt x="413" y="409"/>
                      <a:pt x="425" y="426"/>
                      <a:pt x="420" y="446"/>
                    </a:cubicBezTo>
                    <a:cubicBezTo>
                      <a:pt x="415" y="465"/>
                      <a:pt x="385" y="526"/>
                      <a:pt x="410" y="586"/>
                    </a:cubicBezTo>
                    <a:cubicBezTo>
                      <a:pt x="418" y="605"/>
                      <a:pt x="427" y="633"/>
                      <a:pt x="431" y="664"/>
                    </a:cubicBezTo>
                    <a:cubicBezTo>
                      <a:pt x="441" y="728"/>
                      <a:pt x="433" y="803"/>
                      <a:pt x="371" y="820"/>
                    </a:cubicBezTo>
                    <a:cubicBezTo>
                      <a:pt x="280" y="844"/>
                      <a:pt x="123" y="754"/>
                      <a:pt x="99" y="595"/>
                    </a:cubicBezTo>
                    <a:cubicBezTo>
                      <a:pt x="91" y="536"/>
                      <a:pt x="87" y="499"/>
                      <a:pt x="87" y="476"/>
                    </a:cubicBezTo>
                    <a:cubicBezTo>
                      <a:pt x="87" y="475"/>
                      <a:pt x="87" y="475"/>
                      <a:pt x="87" y="475"/>
                    </a:cubicBezTo>
                    <a:cubicBezTo>
                      <a:pt x="86" y="437"/>
                      <a:pt x="93" y="438"/>
                      <a:pt x="93" y="438"/>
                    </a:cubicBezTo>
                    <a:cubicBezTo>
                      <a:pt x="0" y="380"/>
                      <a:pt x="0" y="380"/>
                      <a:pt x="0" y="380"/>
                    </a:cubicBezTo>
                    <a:cubicBezTo>
                      <a:pt x="0" y="380"/>
                      <a:pt x="42" y="270"/>
                      <a:pt x="39" y="228"/>
                    </a:cubicBezTo>
                    <a:cubicBezTo>
                      <a:pt x="36" y="186"/>
                      <a:pt x="19" y="171"/>
                      <a:pt x="62" y="98"/>
                    </a:cubicBezTo>
                    <a:cubicBezTo>
                      <a:pt x="31" y="98"/>
                      <a:pt x="31" y="98"/>
                      <a:pt x="31" y="98"/>
                    </a:cubicBezTo>
                    <a:cubicBezTo>
                      <a:pt x="31" y="98"/>
                      <a:pt x="46" y="13"/>
                      <a:pt x="146" y="4"/>
                    </a:cubicBezTo>
                    <a:cubicBezTo>
                      <a:pt x="146" y="4"/>
                      <a:pt x="177" y="0"/>
                      <a:pt x="205" y="14"/>
                    </a:cubicBezTo>
                    <a:cubicBezTo>
                      <a:pt x="232" y="28"/>
                      <a:pt x="262" y="22"/>
                      <a:pt x="297" y="15"/>
                    </a:cubicBezTo>
                    <a:cubicBezTo>
                      <a:pt x="332" y="8"/>
                      <a:pt x="393" y="16"/>
                      <a:pt x="413" y="49"/>
                    </a:cubicBezTo>
                    <a:cubicBezTo>
                      <a:pt x="417" y="57"/>
                      <a:pt x="421" y="65"/>
                      <a:pt x="422" y="72"/>
                    </a:cubicBezTo>
                    <a:cubicBezTo>
                      <a:pt x="423" y="77"/>
                      <a:pt x="424" y="82"/>
                      <a:pt x="424" y="86"/>
                    </a:cubicBezTo>
                    <a:cubicBezTo>
                      <a:pt x="425" y="104"/>
                      <a:pt x="418" y="118"/>
                      <a:pt x="410" y="124"/>
                    </a:cubicBezTo>
                    <a:cubicBezTo>
                      <a:pt x="410" y="124"/>
                      <a:pt x="444" y="197"/>
                      <a:pt x="432" y="249"/>
                    </a:cubicBezTo>
                    <a:cubicBezTo>
                      <a:pt x="419" y="300"/>
                      <a:pt x="412" y="315"/>
                      <a:pt x="446" y="374"/>
                    </a:cubicBezTo>
                    <a:cubicBezTo>
                      <a:pt x="446" y="374"/>
                      <a:pt x="467" y="389"/>
                      <a:pt x="446" y="409"/>
                    </a:cubicBezTo>
                    <a:cubicBezTo>
                      <a:pt x="446" y="409"/>
                      <a:pt x="436" y="417"/>
                      <a:pt x="413" y="40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4"/>
              <p:cNvSpPr/>
              <p:nvPr/>
            </p:nvSpPr>
            <p:spPr>
              <a:xfrm>
                <a:off x="1666242" y="1340526"/>
                <a:ext cx="1081715" cy="608572"/>
              </a:xfrm>
              <a:custGeom>
                <a:rect b="b" l="l" r="r" t="t"/>
                <a:pathLst>
                  <a:path extrusionOk="0" h="228" w="405">
                    <a:moveTo>
                      <a:pt x="405" y="86"/>
                    </a:moveTo>
                    <a:cubicBezTo>
                      <a:pt x="358" y="84"/>
                      <a:pt x="287" y="87"/>
                      <a:pt x="178" y="98"/>
                    </a:cubicBezTo>
                    <a:cubicBezTo>
                      <a:pt x="178" y="98"/>
                      <a:pt x="118" y="122"/>
                      <a:pt x="114" y="186"/>
                    </a:cubicBezTo>
                    <a:cubicBezTo>
                      <a:pt x="114" y="186"/>
                      <a:pt x="61" y="157"/>
                      <a:pt x="20" y="228"/>
                    </a:cubicBezTo>
                    <a:cubicBezTo>
                      <a:pt x="17" y="186"/>
                      <a:pt x="0" y="171"/>
                      <a:pt x="43" y="98"/>
                    </a:cubicBezTo>
                    <a:cubicBezTo>
                      <a:pt x="12" y="98"/>
                      <a:pt x="12" y="98"/>
                      <a:pt x="12" y="98"/>
                    </a:cubicBezTo>
                    <a:cubicBezTo>
                      <a:pt x="12" y="98"/>
                      <a:pt x="27" y="13"/>
                      <a:pt x="127" y="4"/>
                    </a:cubicBezTo>
                    <a:cubicBezTo>
                      <a:pt x="127" y="4"/>
                      <a:pt x="158" y="0"/>
                      <a:pt x="186" y="14"/>
                    </a:cubicBezTo>
                    <a:cubicBezTo>
                      <a:pt x="213" y="28"/>
                      <a:pt x="243" y="22"/>
                      <a:pt x="278" y="15"/>
                    </a:cubicBezTo>
                    <a:cubicBezTo>
                      <a:pt x="313" y="8"/>
                      <a:pt x="374" y="16"/>
                      <a:pt x="394" y="49"/>
                    </a:cubicBezTo>
                    <a:cubicBezTo>
                      <a:pt x="398" y="57"/>
                      <a:pt x="402" y="65"/>
                      <a:pt x="403" y="72"/>
                    </a:cubicBezTo>
                    <a:cubicBezTo>
                      <a:pt x="404" y="77"/>
                      <a:pt x="405" y="82"/>
                      <a:pt x="405" y="86"/>
                    </a:cubicBezTo>
                    <a:close/>
                  </a:path>
                </a:pathLst>
              </a:custGeom>
              <a:gradFill>
                <a:gsLst>
                  <a:gs pos="0">
                    <a:srgbClr val="6524DE"/>
                  </a:gs>
                  <a:gs pos="76000">
                    <a:srgbClr val="6524DE">
                      <a:alpha val="0"/>
                    </a:srgbClr>
                  </a:gs>
                  <a:gs pos="100000">
                    <a:srgbClr val="6524DE">
                      <a:alpha val="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4"/>
              <p:cNvSpPr/>
              <p:nvPr/>
            </p:nvSpPr>
            <p:spPr>
              <a:xfrm>
                <a:off x="2163386" y="1422812"/>
                <a:ext cx="699429" cy="1808573"/>
              </a:xfrm>
              <a:custGeom>
                <a:rect b="b" l="l" r="r" t="t"/>
                <a:pathLst>
                  <a:path extrusionOk="0" h="678" w="262">
                    <a:moveTo>
                      <a:pt x="208" y="378"/>
                    </a:moveTo>
                    <a:cubicBezTo>
                      <a:pt x="208" y="378"/>
                      <a:pt x="220" y="395"/>
                      <a:pt x="215" y="415"/>
                    </a:cubicBezTo>
                    <a:cubicBezTo>
                      <a:pt x="210" y="434"/>
                      <a:pt x="180" y="495"/>
                      <a:pt x="205" y="555"/>
                    </a:cubicBezTo>
                    <a:cubicBezTo>
                      <a:pt x="213" y="574"/>
                      <a:pt x="222" y="602"/>
                      <a:pt x="226" y="633"/>
                    </a:cubicBezTo>
                    <a:cubicBezTo>
                      <a:pt x="146" y="678"/>
                      <a:pt x="100" y="440"/>
                      <a:pt x="92" y="411"/>
                    </a:cubicBezTo>
                    <a:cubicBezTo>
                      <a:pt x="85" y="382"/>
                      <a:pt x="35" y="333"/>
                      <a:pt x="45" y="280"/>
                    </a:cubicBezTo>
                    <a:cubicBezTo>
                      <a:pt x="56" y="227"/>
                      <a:pt x="45" y="218"/>
                      <a:pt x="23" y="165"/>
                    </a:cubicBezTo>
                    <a:cubicBezTo>
                      <a:pt x="0" y="113"/>
                      <a:pt x="56" y="82"/>
                      <a:pt x="56" y="82"/>
                    </a:cubicBezTo>
                    <a:cubicBezTo>
                      <a:pt x="107" y="0"/>
                      <a:pt x="158" y="34"/>
                      <a:pt x="180" y="33"/>
                    </a:cubicBezTo>
                    <a:cubicBezTo>
                      <a:pt x="186" y="33"/>
                      <a:pt x="200" y="35"/>
                      <a:pt x="217" y="41"/>
                    </a:cubicBezTo>
                    <a:cubicBezTo>
                      <a:pt x="223" y="65"/>
                      <a:pt x="216" y="85"/>
                      <a:pt x="205" y="93"/>
                    </a:cubicBezTo>
                    <a:cubicBezTo>
                      <a:pt x="205" y="93"/>
                      <a:pt x="239" y="166"/>
                      <a:pt x="227" y="218"/>
                    </a:cubicBezTo>
                    <a:cubicBezTo>
                      <a:pt x="214" y="269"/>
                      <a:pt x="207" y="284"/>
                      <a:pt x="241" y="343"/>
                    </a:cubicBezTo>
                    <a:cubicBezTo>
                      <a:pt x="241" y="343"/>
                      <a:pt x="262" y="358"/>
                      <a:pt x="241" y="378"/>
                    </a:cubicBezTo>
                    <a:cubicBezTo>
                      <a:pt x="241" y="378"/>
                      <a:pt x="231" y="386"/>
                      <a:pt x="208" y="378"/>
                    </a:cubicBezTo>
                    <a:close/>
                  </a:path>
                </a:pathLst>
              </a:custGeom>
              <a:solidFill>
                <a:srgbClr val="15004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4"/>
              <p:cNvSpPr/>
              <p:nvPr/>
            </p:nvSpPr>
            <p:spPr>
              <a:xfrm>
                <a:off x="209099" y="2329669"/>
                <a:ext cx="2883430" cy="4947431"/>
              </a:xfrm>
              <a:custGeom>
                <a:rect b="b" l="l" r="r" t="t"/>
                <a:pathLst>
                  <a:path extrusionOk="0" h="1856" w="1079">
                    <a:moveTo>
                      <a:pt x="904" y="1856"/>
                    </a:moveTo>
                    <a:cubicBezTo>
                      <a:pt x="136" y="1856"/>
                      <a:pt x="136" y="1856"/>
                      <a:pt x="136" y="1856"/>
                    </a:cubicBezTo>
                    <a:cubicBezTo>
                      <a:pt x="125" y="1546"/>
                      <a:pt x="232" y="1684"/>
                      <a:pt x="116" y="962"/>
                    </a:cubicBezTo>
                    <a:cubicBezTo>
                      <a:pt x="0" y="241"/>
                      <a:pt x="449" y="104"/>
                      <a:pt x="449" y="104"/>
                    </a:cubicBezTo>
                    <a:cubicBezTo>
                      <a:pt x="449" y="104"/>
                      <a:pt x="481" y="60"/>
                      <a:pt x="497" y="30"/>
                    </a:cubicBezTo>
                    <a:cubicBezTo>
                      <a:pt x="512" y="0"/>
                      <a:pt x="526" y="9"/>
                      <a:pt x="526" y="9"/>
                    </a:cubicBezTo>
                    <a:cubicBezTo>
                      <a:pt x="753" y="150"/>
                      <a:pt x="753" y="150"/>
                      <a:pt x="753" y="150"/>
                    </a:cubicBezTo>
                    <a:cubicBezTo>
                      <a:pt x="780" y="202"/>
                      <a:pt x="803" y="257"/>
                      <a:pt x="823" y="312"/>
                    </a:cubicBezTo>
                    <a:cubicBezTo>
                      <a:pt x="1079" y="1007"/>
                      <a:pt x="904" y="1856"/>
                      <a:pt x="904" y="18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4BC9"/>
                  </a:gs>
                  <a:gs pos="78000">
                    <a:srgbClr val="16286E"/>
                  </a:gs>
                  <a:gs pos="100000">
                    <a:srgbClr val="16286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4"/>
              <p:cNvSpPr/>
              <p:nvPr/>
            </p:nvSpPr>
            <p:spPr>
              <a:xfrm>
                <a:off x="1409100" y="2329669"/>
                <a:ext cx="999430" cy="836572"/>
              </a:xfrm>
              <a:custGeom>
                <a:rect b="b" l="l" r="r" t="t"/>
                <a:pathLst>
                  <a:path extrusionOk="0" h="314" w="374">
                    <a:moveTo>
                      <a:pt x="374" y="312"/>
                    </a:moveTo>
                    <a:cubicBezTo>
                      <a:pt x="222" y="314"/>
                      <a:pt x="0" y="104"/>
                      <a:pt x="0" y="104"/>
                    </a:cubicBezTo>
                    <a:cubicBezTo>
                      <a:pt x="0" y="104"/>
                      <a:pt x="32" y="60"/>
                      <a:pt x="48" y="30"/>
                    </a:cubicBezTo>
                    <a:cubicBezTo>
                      <a:pt x="63" y="0"/>
                      <a:pt x="77" y="9"/>
                      <a:pt x="77" y="9"/>
                    </a:cubicBezTo>
                    <a:cubicBezTo>
                      <a:pt x="304" y="150"/>
                      <a:pt x="304" y="150"/>
                      <a:pt x="304" y="150"/>
                    </a:cubicBezTo>
                    <a:cubicBezTo>
                      <a:pt x="331" y="202"/>
                      <a:pt x="354" y="257"/>
                      <a:pt x="374" y="312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4BC9"/>
                  </a:gs>
                  <a:gs pos="100000">
                    <a:srgbClr val="16286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4"/>
              <p:cNvSpPr/>
              <p:nvPr/>
            </p:nvSpPr>
            <p:spPr>
              <a:xfrm>
                <a:off x="1743385" y="1835954"/>
                <a:ext cx="258858" cy="378858"/>
              </a:xfrm>
              <a:custGeom>
                <a:rect b="b" l="l" r="r" t="t"/>
                <a:pathLst>
                  <a:path extrusionOk="0" h="142" w="97">
                    <a:moveTo>
                      <a:pt x="75" y="34"/>
                    </a:moveTo>
                    <a:cubicBezTo>
                      <a:pt x="75" y="34"/>
                      <a:pt x="22" y="0"/>
                      <a:pt x="11" y="66"/>
                    </a:cubicBezTo>
                    <a:cubicBezTo>
                      <a:pt x="0" y="132"/>
                      <a:pt x="59" y="142"/>
                      <a:pt x="74" y="132"/>
                    </a:cubicBezTo>
                    <a:cubicBezTo>
                      <a:pt x="74" y="132"/>
                      <a:pt x="97" y="82"/>
                      <a:pt x="75" y="34"/>
                    </a:cubicBezTo>
                    <a:close/>
                  </a:path>
                </a:pathLst>
              </a:custGeom>
              <a:solidFill>
                <a:srgbClr val="15004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4"/>
              <p:cNvSpPr/>
              <p:nvPr/>
            </p:nvSpPr>
            <p:spPr>
              <a:xfrm>
                <a:off x="1851962" y="1895956"/>
                <a:ext cx="1001144" cy="1693715"/>
              </a:xfrm>
              <a:custGeom>
                <a:rect b="b" l="l" r="r" t="t"/>
                <a:pathLst>
                  <a:path extrusionOk="0" h="636" w="375">
                    <a:moveTo>
                      <a:pt x="284" y="612"/>
                    </a:moveTo>
                    <a:cubicBezTo>
                      <a:pt x="193" y="636"/>
                      <a:pt x="36" y="546"/>
                      <a:pt x="12" y="387"/>
                    </a:cubicBezTo>
                    <a:cubicBezTo>
                      <a:pt x="4" y="328"/>
                      <a:pt x="0" y="291"/>
                      <a:pt x="0" y="268"/>
                    </a:cubicBezTo>
                    <a:cubicBezTo>
                      <a:pt x="0" y="267"/>
                      <a:pt x="0" y="267"/>
                      <a:pt x="0" y="267"/>
                    </a:cubicBezTo>
                    <a:cubicBezTo>
                      <a:pt x="2" y="249"/>
                      <a:pt x="4" y="235"/>
                      <a:pt x="6" y="230"/>
                    </a:cubicBezTo>
                    <a:cubicBezTo>
                      <a:pt x="6" y="230"/>
                      <a:pt x="55" y="77"/>
                      <a:pt x="36" y="12"/>
                    </a:cubicBezTo>
                    <a:cubicBezTo>
                      <a:pt x="36" y="12"/>
                      <a:pt x="53" y="0"/>
                      <a:pt x="64" y="62"/>
                    </a:cubicBezTo>
                    <a:cubicBezTo>
                      <a:pt x="74" y="123"/>
                      <a:pt x="134" y="202"/>
                      <a:pt x="173" y="216"/>
                    </a:cubicBezTo>
                    <a:cubicBezTo>
                      <a:pt x="212" y="229"/>
                      <a:pt x="214" y="208"/>
                      <a:pt x="226" y="205"/>
                    </a:cubicBezTo>
                    <a:cubicBezTo>
                      <a:pt x="238" y="204"/>
                      <a:pt x="263" y="178"/>
                      <a:pt x="326" y="201"/>
                    </a:cubicBezTo>
                    <a:cubicBezTo>
                      <a:pt x="326" y="201"/>
                      <a:pt x="338" y="218"/>
                      <a:pt x="333" y="238"/>
                    </a:cubicBezTo>
                    <a:cubicBezTo>
                      <a:pt x="328" y="257"/>
                      <a:pt x="297" y="318"/>
                      <a:pt x="323" y="378"/>
                    </a:cubicBezTo>
                    <a:cubicBezTo>
                      <a:pt x="349" y="437"/>
                      <a:pt x="375" y="587"/>
                      <a:pt x="284" y="612"/>
                    </a:cubicBezTo>
                    <a:close/>
                  </a:path>
                </a:pathLst>
              </a:custGeom>
              <a:gradFill>
                <a:gsLst>
                  <a:gs pos="0">
                    <a:srgbClr val="BB7FFB"/>
                  </a:gs>
                  <a:gs pos="100000">
                    <a:srgbClr val="FB95E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1697100" y="1340526"/>
                <a:ext cx="1071430" cy="330858"/>
              </a:xfrm>
              <a:custGeom>
                <a:rect b="b" l="l" r="r" t="t"/>
                <a:pathLst>
                  <a:path extrusionOk="0" h="124" w="401">
                    <a:moveTo>
                      <a:pt x="379" y="124"/>
                    </a:moveTo>
                    <a:cubicBezTo>
                      <a:pt x="354" y="103"/>
                      <a:pt x="299" y="110"/>
                      <a:pt x="258" y="113"/>
                    </a:cubicBezTo>
                    <a:cubicBezTo>
                      <a:pt x="217" y="117"/>
                      <a:pt x="166" y="98"/>
                      <a:pt x="166" y="98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98"/>
                      <a:pt x="15" y="13"/>
                      <a:pt x="115" y="4"/>
                    </a:cubicBezTo>
                    <a:cubicBezTo>
                      <a:pt x="115" y="4"/>
                      <a:pt x="146" y="0"/>
                      <a:pt x="174" y="14"/>
                    </a:cubicBezTo>
                    <a:cubicBezTo>
                      <a:pt x="201" y="28"/>
                      <a:pt x="231" y="22"/>
                      <a:pt x="266" y="15"/>
                    </a:cubicBezTo>
                    <a:cubicBezTo>
                      <a:pt x="301" y="8"/>
                      <a:pt x="362" y="16"/>
                      <a:pt x="382" y="49"/>
                    </a:cubicBezTo>
                    <a:cubicBezTo>
                      <a:pt x="401" y="81"/>
                      <a:pt x="393" y="114"/>
                      <a:pt x="379" y="124"/>
                    </a:cubicBezTo>
                    <a:close/>
                  </a:path>
                </a:pathLst>
              </a:custGeom>
              <a:gradFill>
                <a:gsLst>
                  <a:gs pos="0">
                    <a:srgbClr val="6313DC"/>
                  </a:gs>
                  <a:gs pos="28000">
                    <a:srgbClr val="6313DC"/>
                  </a:gs>
                  <a:gs pos="100000">
                    <a:srgbClr val="1E3AD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4"/>
              <p:cNvSpPr/>
              <p:nvPr/>
            </p:nvSpPr>
            <p:spPr>
              <a:xfrm>
                <a:off x="1350814" y="4258241"/>
                <a:ext cx="761143" cy="908572"/>
              </a:xfrm>
              <a:custGeom>
                <a:rect b="b" l="l" r="r" t="t"/>
                <a:pathLst>
                  <a:path extrusionOk="0" h="341" w="285">
                    <a:moveTo>
                      <a:pt x="265" y="0"/>
                    </a:moveTo>
                    <a:cubicBezTo>
                      <a:pt x="265" y="0"/>
                      <a:pt x="85" y="79"/>
                      <a:pt x="68" y="96"/>
                    </a:cubicBezTo>
                    <a:cubicBezTo>
                      <a:pt x="51" y="113"/>
                      <a:pt x="0" y="232"/>
                      <a:pt x="0" y="232"/>
                    </a:cubicBezTo>
                    <a:cubicBezTo>
                      <a:pt x="3" y="341"/>
                      <a:pt x="3" y="341"/>
                      <a:pt x="3" y="341"/>
                    </a:cubicBezTo>
                    <a:cubicBezTo>
                      <a:pt x="3" y="341"/>
                      <a:pt x="42" y="329"/>
                      <a:pt x="41" y="303"/>
                    </a:cubicBezTo>
                    <a:cubicBezTo>
                      <a:pt x="39" y="278"/>
                      <a:pt x="35" y="230"/>
                      <a:pt x="41" y="224"/>
                    </a:cubicBezTo>
                    <a:cubicBezTo>
                      <a:pt x="46" y="218"/>
                      <a:pt x="93" y="156"/>
                      <a:pt x="93" y="156"/>
                    </a:cubicBezTo>
                    <a:cubicBezTo>
                      <a:pt x="93" y="156"/>
                      <a:pt x="59" y="250"/>
                      <a:pt x="62" y="256"/>
                    </a:cubicBezTo>
                    <a:cubicBezTo>
                      <a:pt x="64" y="262"/>
                      <a:pt x="106" y="323"/>
                      <a:pt x="106" y="323"/>
                    </a:cubicBezTo>
                    <a:cubicBezTo>
                      <a:pt x="106" y="323"/>
                      <a:pt x="128" y="296"/>
                      <a:pt x="117" y="275"/>
                    </a:cubicBezTo>
                    <a:cubicBezTo>
                      <a:pt x="106" y="255"/>
                      <a:pt x="101" y="237"/>
                      <a:pt x="101" y="237"/>
                    </a:cubicBezTo>
                    <a:cubicBezTo>
                      <a:pt x="136" y="172"/>
                      <a:pt x="136" y="172"/>
                      <a:pt x="136" y="172"/>
                    </a:cubicBezTo>
                    <a:cubicBezTo>
                      <a:pt x="133" y="239"/>
                      <a:pt x="133" y="239"/>
                      <a:pt x="133" y="239"/>
                    </a:cubicBezTo>
                    <a:cubicBezTo>
                      <a:pt x="168" y="301"/>
                      <a:pt x="168" y="301"/>
                      <a:pt x="168" y="301"/>
                    </a:cubicBezTo>
                    <a:cubicBezTo>
                      <a:pt x="168" y="301"/>
                      <a:pt x="197" y="274"/>
                      <a:pt x="185" y="257"/>
                    </a:cubicBezTo>
                    <a:cubicBezTo>
                      <a:pt x="172" y="240"/>
                      <a:pt x="180" y="196"/>
                      <a:pt x="180" y="196"/>
                    </a:cubicBezTo>
                    <a:cubicBezTo>
                      <a:pt x="285" y="100"/>
                      <a:pt x="285" y="100"/>
                      <a:pt x="285" y="100"/>
                    </a:cubicBezTo>
                    <a:lnTo>
                      <a:pt x="2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4"/>
              <p:cNvSpPr/>
              <p:nvPr/>
            </p:nvSpPr>
            <p:spPr>
              <a:xfrm>
                <a:off x="2489100" y="3680527"/>
                <a:ext cx="387429" cy="685715"/>
              </a:xfrm>
              <a:custGeom>
                <a:rect b="b" l="l" r="r" t="t"/>
                <a:pathLst>
                  <a:path extrusionOk="0" h="257" w="145">
                    <a:moveTo>
                      <a:pt x="21" y="257"/>
                    </a:moveTo>
                    <a:cubicBezTo>
                      <a:pt x="21" y="257"/>
                      <a:pt x="0" y="134"/>
                      <a:pt x="3" y="120"/>
                    </a:cubicBezTo>
                    <a:cubicBezTo>
                      <a:pt x="6" y="105"/>
                      <a:pt x="50" y="37"/>
                      <a:pt x="50" y="37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8" y="0"/>
                      <a:pt x="116" y="25"/>
                      <a:pt x="102" y="33"/>
                    </a:cubicBezTo>
                    <a:cubicBezTo>
                      <a:pt x="88" y="41"/>
                      <a:pt x="61" y="56"/>
                      <a:pt x="60" y="61"/>
                    </a:cubicBezTo>
                    <a:cubicBezTo>
                      <a:pt x="59" y="66"/>
                      <a:pt x="43" y="112"/>
                      <a:pt x="43" y="112"/>
                    </a:cubicBezTo>
                    <a:cubicBezTo>
                      <a:pt x="43" y="112"/>
                      <a:pt x="80" y="61"/>
                      <a:pt x="84" y="60"/>
                    </a:cubicBezTo>
                    <a:cubicBezTo>
                      <a:pt x="89" y="60"/>
                      <a:pt x="135" y="60"/>
                      <a:pt x="135" y="60"/>
                    </a:cubicBezTo>
                    <a:cubicBezTo>
                      <a:pt x="135" y="60"/>
                      <a:pt x="128" y="81"/>
                      <a:pt x="114" y="83"/>
                    </a:cubicBezTo>
                    <a:cubicBezTo>
                      <a:pt x="99" y="84"/>
                      <a:pt x="88" y="88"/>
                      <a:pt x="88" y="88"/>
                    </a:cubicBezTo>
                    <a:cubicBezTo>
                      <a:pt x="67" y="129"/>
                      <a:pt x="67" y="129"/>
                      <a:pt x="67" y="129"/>
                    </a:cubicBezTo>
                    <a:cubicBezTo>
                      <a:pt x="100" y="104"/>
                      <a:pt x="100" y="104"/>
                      <a:pt x="100" y="104"/>
                    </a:cubicBezTo>
                    <a:cubicBezTo>
                      <a:pt x="145" y="100"/>
                      <a:pt x="145" y="100"/>
                      <a:pt x="145" y="100"/>
                    </a:cubicBezTo>
                    <a:cubicBezTo>
                      <a:pt x="145" y="100"/>
                      <a:pt x="141" y="125"/>
                      <a:pt x="128" y="125"/>
                    </a:cubicBezTo>
                    <a:cubicBezTo>
                      <a:pt x="115" y="124"/>
                      <a:pt x="94" y="144"/>
                      <a:pt x="94" y="144"/>
                    </a:cubicBezTo>
                    <a:cubicBezTo>
                      <a:pt x="81" y="232"/>
                      <a:pt x="81" y="232"/>
                      <a:pt x="81" y="232"/>
                    </a:cubicBezTo>
                    <a:lnTo>
                      <a:pt x="21" y="257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4"/>
              <p:cNvSpPr/>
              <p:nvPr/>
            </p:nvSpPr>
            <p:spPr>
              <a:xfrm rot="487774">
                <a:off x="2302872" y="4062813"/>
                <a:ext cx="1145143" cy="673715"/>
              </a:xfrm>
              <a:custGeom>
                <a:rect b="b" l="l" r="r" t="t"/>
                <a:pathLst>
                  <a:path extrusionOk="0" h="253" w="428">
                    <a:moveTo>
                      <a:pt x="82" y="54"/>
                    </a:moveTo>
                    <a:cubicBezTo>
                      <a:pt x="82" y="54"/>
                      <a:pt x="169" y="0"/>
                      <a:pt x="282" y="41"/>
                    </a:cubicBezTo>
                    <a:cubicBezTo>
                      <a:pt x="428" y="93"/>
                      <a:pt x="371" y="223"/>
                      <a:pt x="326" y="235"/>
                    </a:cubicBezTo>
                    <a:cubicBezTo>
                      <a:pt x="260" y="253"/>
                      <a:pt x="93" y="170"/>
                      <a:pt x="59" y="170"/>
                    </a:cubicBezTo>
                    <a:cubicBezTo>
                      <a:pt x="25" y="170"/>
                      <a:pt x="0" y="102"/>
                      <a:pt x="82" y="5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4"/>
              <p:cNvSpPr/>
              <p:nvPr/>
            </p:nvSpPr>
            <p:spPr>
              <a:xfrm>
                <a:off x="963385" y="3011955"/>
                <a:ext cx="2713716" cy="2492573"/>
              </a:xfrm>
              <a:custGeom>
                <a:rect b="b" l="l" r="r" t="t"/>
                <a:pathLst>
                  <a:path extrusionOk="0" h="935" w="1016">
                    <a:moveTo>
                      <a:pt x="154" y="0"/>
                    </a:moveTo>
                    <a:cubicBezTo>
                      <a:pt x="154" y="0"/>
                      <a:pt x="317" y="11"/>
                      <a:pt x="461" y="248"/>
                    </a:cubicBezTo>
                    <a:cubicBezTo>
                      <a:pt x="604" y="484"/>
                      <a:pt x="785" y="556"/>
                      <a:pt x="785" y="556"/>
                    </a:cubicBezTo>
                    <a:cubicBezTo>
                      <a:pt x="785" y="556"/>
                      <a:pt x="1016" y="720"/>
                      <a:pt x="901" y="822"/>
                    </a:cubicBezTo>
                    <a:cubicBezTo>
                      <a:pt x="787" y="925"/>
                      <a:pt x="485" y="935"/>
                      <a:pt x="331" y="781"/>
                    </a:cubicBezTo>
                    <a:cubicBezTo>
                      <a:pt x="178" y="628"/>
                      <a:pt x="0" y="341"/>
                      <a:pt x="10" y="204"/>
                    </a:cubicBezTo>
                    <a:cubicBezTo>
                      <a:pt x="21" y="68"/>
                      <a:pt x="68" y="10"/>
                      <a:pt x="15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4BC9"/>
                  </a:gs>
                  <a:gs pos="78000">
                    <a:srgbClr val="16286E"/>
                  </a:gs>
                  <a:gs pos="100000">
                    <a:srgbClr val="16286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" name="Google Shape;117;p14"/>
            <p:cNvSpPr/>
            <p:nvPr/>
          </p:nvSpPr>
          <p:spPr>
            <a:xfrm flipH="1">
              <a:off x="662569" y="2575406"/>
              <a:ext cx="333828" cy="333828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71000">
                  <a:srgbClr val="6672E4"/>
                </a:gs>
                <a:gs pos="100000">
                  <a:srgbClr val="882BE5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4"/>
            <p:cNvSpPr/>
            <p:nvPr/>
          </p:nvSpPr>
          <p:spPr>
            <a:xfrm flipH="1">
              <a:off x="3192720" y="5092277"/>
              <a:ext cx="191756" cy="191756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100000">
                  <a:srgbClr val="6C92E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117404" y="5337893"/>
              <a:ext cx="319314" cy="319314"/>
            </a:xfrm>
            <a:prstGeom prst="diamond">
              <a:avLst/>
            </a:prstGeom>
            <a:gradFill>
              <a:gsLst>
                <a:gs pos="0">
                  <a:srgbClr val="FD9069"/>
                </a:gs>
                <a:gs pos="100000">
                  <a:srgbClr val="FE7B4C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3656166" y="3941881"/>
              <a:ext cx="271578" cy="271578"/>
            </a:xfrm>
            <a:prstGeom prst="diamond">
              <a:avLst/>
            </a:prstGeom>
            <a:gradFill>
              <a:gsLst>
                <a:gs pos="0">
                  <a:srgbClr val="FD9069"/>
                </a:gs>
                <a:gs pos="100000">
                  <a:srgbClr val="FE7B4C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2941210" y="1951388"/>
              <a:ext cx="404893" cy="404893"/>
            </a:xfrm>
            <a:prstGeom prst="diamond">
              <a:avLst/>
            </a:prstGeom>
            <a:gradFill>
              <a:gsLst>
                <a:gs pos="0">
                  <a:srgbClr val="FD9069"/>
                </a:gs>
                <a:gs pos="100000">
                  <a:srgbClr val="FE7B4C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4830149" y="288313"/>
            <a:ext cx="61722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600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Проблема и предобработка сигнала</a:t>
            </a:r>
            <a:endParaRPr b="1" sz="1050">
              <a:solidFill>
                <a:srgbClr val="2B2D3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206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5019478" y="1309174"/>
            <a:ext cx="6097500" cy="29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6075" lvl="1" marL="9144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2060"/>
              </a:buClr>
              <a:buSzPts val="1850"/>
              <a:buChar char="○"/>
            </a:pPr>
            <a:r>
              <a:rPr lang="ru-RU" sz="1850">
                <a:solidFill>
                  <a:srgbClr val="002060"/>
                </a:solidFill>
                <a:highlight>
                  <a:srgbClr val="FFFFFF"/>
                </a:highlight>
              </a:rPr>
              <a:t>Проблема: Интенсивная аутофлуоресценция и аппаратный шум</a:t>
            </a:r>
            <a:endParaRPr sz="1850">
              <a:solidFill>
                <a:srgbClr val="002060"/>
              </a:solidFill>
              <a:highlight>
                <a:srgbClr val="FFFFFF"/>
              </a:highlight>
            </a:endParaRPr>
          </a:p>
          <a:p>
            <a:pPr indent="-3460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50"/>
              <a:buChar char="○"/>
            </a:pPr>
            <a:r>
              <a:rPr lang="ru-RU" sz="1850">
                <a:solidFill>
                  <a:srgbClr val="002060"/>
                </a:solidFill>
                <a:highlight>
                  <a:srgbClr val="FFFFFF"/>
                </a:highlight>
              </a:rPr>
              <a:t>Решение: Математический пайплайн (ALS -&gt; Savitzky-Golay -&gt; SNV)</a:t>
            </a:r>
            <a:endParaRPr sz="1850">
              <a:solidFill>
                <a:srgbClr val="002060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B2D31"/>
              </a:solidFill>
              <a:highlight>
                <a:srgbClr val="FFFFFF"/>
              </a:highlight>
            </a:endParaRPr>
          </a:p>
          <a:p>
            <a:pPr indent="0" lvl="0" marL="0" marR="0" rtl="0" algn="just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0662" y="3608025"/>
            <a:ext cx="7668176" cy="25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/>
        </p:nvSpPr>
        <p:spPr>
          <a:xfrm>
            <a:off x="726781" y="273553"/>
            <a:ext cx="10881286" cy="512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600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Машинное обучение</a:t>
            </a:r>
            <a:r>
              <a:rPr b="1" lang="ru-RU" sz="3600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и з</a:t>
            </a:r>
            <a:r>
              <a:rPr b="1" i="0" lang="ru-RU" sz="3600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ащита от утечки данных</a:t>
            </a:r>
            <a:endParaRPr/>
          </a:p>
        </p:txBody>
      </p:sp>
      <p:grpSp>
        <p:nvGrpSpPr>
          <p:cNvPr descr="Это изображение содержит абстрактную форму. " id="131" name="Google Shape;131;p15"/>
          <p:cNvGrpSpPr/>
          <p:nvPr/>
        </p:nvGrpSpPr>
        <p:grpSpPr>
          <a:xfrm rot="-6289903">
            <a:off x="7355624" y="3416565"/>
            <a:ext cx="6673486" cy="7741404"/>
            <a:chOff x="2950669" y="-4116586"/>
            <a:chExt cx="12607266" cy="14624732"/>
          </a:xfrm>
        </p:grpSpPr>
        <p:sp>
          <p:nvSpPr>
            <p:cNvPr id="132" name="Google Shape;132;p15"/>
            <p:cNvSpPr/>
            <p:nvPr/>
          </p:nvSpPr>
          <p:spPr>
            <a:xfrm rot="9420272">
              <a:off x="4855953" y="-2246936"/>
              <a:ext cx="8673602" cy="11518530"/>
            </a:xfrm>
            <a:custGeom>
              <a:rect b="b" l="l" r="r" t="t"/>
              <a:pathLst>
                <a:path extrusionOk="0" h="3315" w="2492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 rot="9420272">
              <a:off x="5048022" y="-2833465"/>
              <a:ext cx="8756895" cy="10755934"/>
            </a:xfrm>
            <a:custGeom>
              <a:rect b="b" l="l" r="r" t="t"/>
              <a:pathLst>
                <a:path extrusionOk="0" h="3095" w="2516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 rot="9420272">
              <a:off x="5218811" y="-1993836"/>
              <a:ext cx="7570428" cy="10122905"/>
            </a:xfrm>
            <a:custGeom>
              <a:rect b="b" l="l" r="r" t="t"/>
              <a:pathLst>
                <a:path extrusionOk="0" h="2913" w="2175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0">
                  <a:srgbClr val="882BE5"/>
                </a:gs>
                <a:gs pos="19000">
                  <a:srgbClr val="6672E4"/>
                </a:gs>
                <a:gs pos="100000">
                  <a:srgbClr val="7CEFD8"/>
                </a:gs>
              </a:gsLst>
              <a:lin ang="10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15"/>
          <p:cNvSpPr txBox="1"/>
          <p:nvPr/>
        </p:nvSpPr>
        <p:spPr>
          <a:xfrm>
            <a:off x="1723951" y="1067402"/>
            <a:ext cx="87441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9725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2060"/>
              </a:buClr>
              <a:buSzPts val="1750"/>
              <a:buFont typeface="Quattrocento Sans"/>
              <a:buChar char="●"/>
            </a:pPr>
            <a:r>
              <a:rPr lang="ru-RU" sz="1750">
                <a:solidFill>
                  <a:srgbClr val="00206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PCA демонстрирует нелинейное смешивание классов. Классика не работает.</a:t>
            </a:r>
            <a:endParaRPr sz="1750">
              <a:solidFill>
                <a:srgbClr val="00206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397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50"/>
              <a:buFont typeface="Quattrocento Sans"/>
              <a:buChar char="●"/>
            </a:pPr>
            <a:r>
              <a:rPr lang="ru-RU" sz="1750">
                <a:solidFill>
                  <a:srgbClr val="00206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Выбор модели: LightGBM.</a:t>
            </a:r>
            <a:endParaRPr sz="1750">
              <a:solidFill>
                <a:srgbClr val="00206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397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50"/>
              <a:buChar char="●"/>
            </a:pPr>
            <a:r>
              <a:rPr lang="ru-RU" sz="1750">
                <a:solidFill>
                  <a:srgbClr val="00206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Критическое решение: </a:t>
            </a:r>
            <a:r>
              <a:rPr lang="ru-RU" sz="1750">
                <a:solidFill>
                  <a:srgbClr val="002060"/>
                </a:solidFill>
                <a:highlight>
                  <a:srgbClr val="FCFCFC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GroupShuffleSplit</a:t>
            </a:r>
            <a:r>
              <a:rPr lang="ru-RU" sz="1750">
                <a:solidFill>
                  <a:srgbClr val="00206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(File-level validation). Модель тестируется на новых образцах, а не на перемешанных пикселях!</a:t>
            </a:r>
            <a:endParaRPr sz="1750">
              <a:solidFill>
                <a:srgbClr val="00206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just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950" y="2872225"/>
            <a:ext cx="4629350" cy="386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/>
        </p:nvSpPr>
        <p:spPr>
          <a:xfrm>
            <a:off x="726781" y="273553"/>
            <a:ext cx="10881286" cy="512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600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Ф</a:t>
            </a:r>
            <a:r>
              <a:rPr b="1" lang="ru-RU" sz="3600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инальные метрики (</a:t>
            </a:r>
            <a:r>
              <a:rPr b="1" i="0" lang="ru-RU" sz="3600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File-Leve</a:t>
            </a:r>
            <a:r>
              <a:rPr b="1" lang="ru-RU" sz="3600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</a:t>
            </a:r>
            <a:r>
              <a:rPr b="1" i="0" lang="ru-RU" sz="3600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/>
          </a:p>
        </p:txBody>
      </p:sp>
      <p:grpSp>
        <p:nvGrpSpPr>
          <p:cNvPr descr="Это изображение содержит абстрактную форму. " id="143" name="Google Shape;143;p16"/>
          <p:cNvGrpSpPr/>
          <p:nvPr/>
        </p:nvGrpSpPr>
        <p:grpSpPr>
          <a:xfrm rot="2530836">
            <a:off x="7998546" y="2081381"/>
            <a:ext cx="6673095" cy="7740952"/>
            <a:chOff x="2950669" y="-4116586"/>
            <a:chExt cx="12607266" cy="14624732"/>
          </a:xfrm>
        </p:grpSpPr>
        <p:sp>
          <p:nvSpPr>
            <p:cNvPr id="144" name="Google Shape;144;p16"/>
            <p:cNvSpPr/>
            <p:nvPr/>
          </p:nvSpPr>
          <p:spPr>
            <a:xfrm rot="9420272">
              <a:off x="4855953" y="-2246936"/>
              <a:ext cx="8673602" cy="11518530"/>
            </a:xfrm>
            <a:custGeom>
              <a:rect b="b" l="l" r="r" t="t"/>
              <a:pathLst>
                <a:path extrusionOk="0" h="3315" w="2492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6"/>
            <p:cNvSpPr/>
            <p:nvPr/>
          </p:nvSpPr>
          <p:spPr>
            <a:xfrm rot="9420272">
              <a:off x="5048022" y="-2833465"/>
              <a:ext cx="8756895" cy="10755934"/>
            </a:xfrm>
            <a:custGeom>
              <a:rect b="b" l="l" r="r" t="t"/>
              <a:pathLst>
                <a:path extrusionOk="0" h="3095" w="2516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6"/>
            <p:cNvSpPr/>
            <p:nvPr/>
          </p:nvSpPr>
          <p:spPr>
            <a:xfrm rot="9420272">
              <a:off x="5218811" y="-1993836"/>
              <a:ext cx="7570428" cy="10122905"/>
            </a:xfrm>
            <a:custGeom>
              <a:rect b="b" l="l" r="r" t="t"/>
              <a:pathLst>
                <a:path extrusionOk="0" h="2913" w="2175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0">
                  <a:srgbClr val="882BE5"/>
                </a:gs>
                <a:gs pos="19000">
                  <a:srgbClr val="6672E4"/>
                </a:gs>
                <a:gs pos="100000">
                  <a:srgbClr val="7CEFD8"/>
                </a:gs>
              </a:gsLst>
              <a:lin ang="10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16"/>
          <p:cNvSpPr txBox="1"/>
          <p:nvPr/>
        </p:nvSpPr>
        <p:spPr>
          <a:xfrm>
            <a:off x="548706" y="996731"/>
            <a:ext cx="108813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0675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2060"/>
              </a:buClr>
              <a:buSzPts val="1450"/>
              <a:buFont typeface="Quattrocento Sans"/>
              <a:buChar char="●"/>
            </a:pPr>
            <a:r>
              <a:rPr lang="ru-RU" sz="1450">
                <a:solidFill>
                  <a:srgbClr val="00206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Белковое окно (1500 см⁻¹): Accuracy 83.3%</a:t>
            </a:r>
            <a:endParaRPr sz="1450">
              <a:solidFill>
                <a:srgbClr val="00206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206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50"/>
              <a:buFont typeface="Quattrocento Sans"/>
              <a:buChar char="●"/>
            </a:pPr>
            <a:r>
              <a:rPr lang="ru-RU" sz="1450">
                <a:solidFill>
                  <a:srgbClr val="00206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Липидное окно (2900 см⁻¹): Accuracy 79.2%</a:t>
            </a:r>
            <a:endParaRPr sz="1450">
              <a:solidFill>
                <a:srgbClr val="00206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206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50"/>
              <a:buFont typeface="Quattrocento Sans"/>
              <a:buChar char="●"/>
            </a:pPr>
            <a:r>
              <a:rPr lang="ru-RU" sz="1450">
                <a:solidFill>
                  <a:srgbClr val="00206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Модель 1500 идеально находит норму (Recall Control = 100%).</a:t>
            </a:r>
            <a:endParaRPr sz="1450">
              <a:solidFill>
                <a:srgbClr val="00206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206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50"/>
              <a:buFont typeface="Quattrocento Sans"/>
              <a:buChar char="●"/>
            </a:pPr>
            <a:r>
              <a:rPr lang="ru-RU" sz="1450">
                <a:solidFill>
                  <a:srgbClr val="00206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Модель 2900 идеально находит экзогенный HSP70 (Recall Exo = 100%)</a:t>
            </a:r>
            <a:endParaRPr sz="1450">
              <a:solidFill>
                <a:srgbClr val="00206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just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604" y="2568554"/>
            <a:ext cx="4300191" cy="4074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2800" y="2723218"/>
            <a:ext cx="4300200" cy="3764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/>
        </p:nvSpPr>
        <p:spPr>
          <a:xfrm>
            <a:off x="726781" y="273553"/>
            <a:ext cx="10881286" cy="512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600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Выводы: Что поняла модель? </a:t>
            </a:r>
            <a:endParaRPr b="1" i="0" sz="3600">
              <a:solidFill>
                <a:srgbClr val="00206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227050" y="1403275"/>
            <a:ext cx="4173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Самые важные маркеры, по которым модель отличает классы:</a:t>
            </a:r>
            <a:endParaRPr b="1" sz="16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Пики белков (1289, 1434 см⁻¹).</a:t>
            </a:r>
            <a:endParaRPr b="1" sz="16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Пики липидных мембран (2878-2882 см⁻¹).</a:t>
            </a:r>
            <a:endParaRPr b="1" sz="1600"/>
          </a:p>
        </p:txBody>
      </p:sp>
      <p:pic>
        <p:nvPicPr>
          <p:cNvPr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1466" y="1195287"/>
            <a:ext cx="6823753" cy="2233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1465" y="3554985"/>
            <a:ext cx="6823753" cy="3029462"/>
          </a:xfrm>
          <a:prstGeom prst="rect">
            <a:avLst/>
          </a:prstGeom>
          <a:noFill/>
          <a:ln>
            <a:noFill/>
          </a:ln>
        </p:spPr>
      </p:pic>
      <p:grpSp>
        <p:nvGrpSpPr>
          <p:cNvPr descr="Это изображение содержит абстрактную форму. " id="159" name="Google Shape;159;p17"/>
          <p:cNvGrpSpPr/>
          <p:nvPr/>
        </p:nvGrpSpPr>
        <p:grpSpPr>
          <a:xfrm rot="-1578575">
            <a:off x="-1665967" y="2720784"/>
            <a:ext cx="6673095" cy="7740952"/>
            <a:chOff x="2950669" y="-4116586"/>
            <a:chExt cx="12607266" cy="14624732"/>
          </a:xfrm>
        </p:grpSpPr>
        <p:sp>
          <p:nvSpPr>
            <p:cNvPr id="160" name="Google Shape;160;p17"/>
            <p:cNvSpPr/>
            <p:nvPr/>
          </p:nvSpPr>
          <p:spPr>
            <a:xfrm rot="9420272">
              <a:off x="4855953" y="-2246936"/>
              <a:ext cx="8673602" cy="11518530"/>
            </a:xfrm>
            <a:custGeom>
              <a:rect b="b" l="l" r="r" t="t"/>
              <a:pathLst>
                <a:path extrusionOk="0" h="3315" w="2492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7"/>
            <p:cNvSpPr/>
            <p:nvPr/>
          </p:nvSpPr>
          <p:spPr>
            <a:xfrm rot="9420272">
              <a:off x="5048022" y="-2833465"/>
              <a:ext cx="8756895" cy="10755934"/>
            </a:xfrm>
            <a:custGeom>
              <a:rect b="b" l="l" r="r" t="t"/>
              <a:pathLst>
                <a:path extrusionOk="0" h="3095" w="2516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 rot="9420272">
              <a:off x="5218811" y="-1993836"/>
              <a:ext cx="7570428" cy="10122905"/>
            </a:xfrm>
            <a:custGeom>
              <a:rect b="b" l="l" r="r" t="t"/>
              <a:pathLst>
                <a:path extrusionOk="0" h="2913" w="2175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0">
                  <a:srgbClr val="882BE5"/>
                </a:gs>
                <a:gs pos="19000">
                  <a:srgbClr val="6672E4"/>
                </a:gs>
                <a:gs pos="100000">
                  <a:srgbClr val="7CEFD8"/>
                </a:gs>
              </a:gsLst>
              <a:lin ang="10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/>
        </p:nvSpPr>
        <p:spPr>
          <a:xfrm>
            <a:off x="726781" y="273553"/>
            <a:ext cx="108813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Заключение</a:t>
            </a:r>
            <a:endParaRPr sz="1800"/>
          </a:p>
        </p:txBody>
      </p:sp>
      <p:grpSp>
        <p:nvGrpSpPr>
          <p:cNvPr descr="Это изображение содержит абстрактную форму. " id="169" name="Google Shape;169;p18"/>
          <p:cNvGrpSpPr/>
          <p:nvPr/>
        </p:nvGrpSpPr>
        <p:grpSpPr>
          <a:xfrm rot="-6289903">
            <a:off x="7355625" y="3416564"/>
            <a:ext cx="6673485" cy="7741405"/>
            <a:chOff x="2950671" y="-4116586"/>
            <a:chExt cx="12607263" cy="14624733"/>
          </a:xfrm>
        </p:grpSpPr>
        <p:sp>
          <p:nvSpPr>
            <p:cNvPr id="170" name="Google Shape;170;p18"/>
            <p:cNvSpPr/>
            <p:nvPr/>
          </p:nvSpPr>
          <p:spPr>
            <a:xfrm rot="9420272">
              <a:off x="4855954" y="-2246934"/>
              <a:ext cx="8673603" cy="11518528"/>
            </a:xfrm>
            <a:custGeom>
              <a:rect b="b" l="l" r="r" t="t"/>
              <a:pathLst>
                <a:path extrusionOk="0" h="3315" w="2492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 rot="9420272">
              <a:off x="5048019" y="-2833465"/>
              <a:ext cx="8756898" cy="10755935"/>
            </a:xfrm>
            <a:custGeom>
              <a:rect b="b" l="l" r="r" t="t"/>
              <a:pathLst>
                <a:path extrusionOk="0" h="3095" w="2516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 rot="9420272">
              <a:off x="5218810" y="-1993837"/>
              <a:ext cx="7570430" cy="10122905"/>
            </a:xfrm>
            <a:custGeom>
              <a:rect b="b" l="l" r="r" t="t"/>
              <a:pathLst>
                <a:path extrusionOk="0" h="2913" w="2175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0">
                  <a:srgbClr val="882BE5"/>
                </a:gs>
                <a:gs pos="19000">
                  <a:srgbClr val="6672E4"/>
                </a:gs>
                <a:gs pos="100000">
                  <a:srgbClr val="7CEFD8"/>
                </a:gs>
              </a:gsLst>
              <a:lin ang="10200138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18"/>
          <p:cNvSpPr txBox="1"/>
          <p:nvPr/>
        </p:nvSpPr>
        <p:spPr>
          <a:xfrm>
            <a:off x="723901" y="1292527"/>
            <a:ext cx="8744100" cy="3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2060"/>
              </a:buClr>
              <a:buSzPts val="2350"/>
              <a:buFont typeface="Quattrocento Sans"/>
              <a:buChar char="●"/>
            </a:pPr>
            <a:r>
              <a:rPr lang="ru-RU" sz="2350">
                <a:solidFill>
                  <a:srgbClr val="00206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Разработан робастный пайплайн предобработки спектров.</a:t>
            </a:r>
            <a:endParaRPr sz="2350">
              <a:solidFill>
                <a:srgbClr val="00206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778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350"/>
              <a:buFont typeface="Quattrocento Sans"/>
              <a:buChar char="●"/>
            </a:pPr>
            <a:r>
              <a:rPr lang="ru-RU" sz="2350">
                <a:solidFill>
                  <a:srgbClr val="00206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Достигнута честная точность &gt;80% благодаря File-Level валидации.</a:t>
            </a:r>
            <a:endParaRPr sz="2350">
              <a:solidFill>
                <a:srgbClr val="00206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778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350"/>
              <a:buFont typeface="Quattrocento Sans"/>
              <a:buChar char="●"/>
            </a:pPr>
            <a:r>
              <a:rPr lang="ru-RU" sz="2350">
                <a:solidFill>
                  <a:srgbClr val="00206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Выявлены интерпретируемые биомаркеры стресс-ответа.</a:t>
            </a:r>
            <a:endParaRPr sz="2350">
              <a:solidFill>
                <a:srgbClr val="00206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778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350"/>
              <a:buFont typeface="Quattrocento Sans"/>
              <a:buChar char="●"/>
            </a:pPr>
            <a:r>
              <a:rPr lang="ru-RU" sz="2350">
                <a:solidFill>
                  <a:srgbClr val="00206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Готово к интеграции в системы скрининга.</a:t>
            </a:r>
            <a:endParaRPr sz="2350">
              <a:solidFill>
                <a:srgbClr val="00206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00206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just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/>
        </p:nvSpPr>
        <p:spPr>
          <a:xfrm>
            <a:off x="733192" y="4331033"/>
            <a:ext cx="48456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5400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Спасибо за внимание!</a:t>
            </a:r>
            <a:endParaRPr b="1" sz="5400">
              <a:solidFill>
                <a:srgbClr val="00206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solidFill>
                <a:srgbClr val="00206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solidFill>
                <a:srgbClr val="00206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descr="Это изображение содержит абстрактную форму. " id="180" name="Google Shape;180;p19"/>
          <p:cNvGrpSpPr/>
          <p:nvPr/>
        </p:nvGrpSpPr>
        <p:grpSpPr>
          <a:xfrm>
            <a:off x="2950669" y="-4116586"/>
            <a:ext cx="12607266" cy="14624732"/>
            <a:chOff x="2950669" y="-4116586"/>
            <a:chExt cx="12607266" cy="14624732"/>
          </a:xfrm>
        </p:grpSpPr>
        <p:sp>
          <p:nvSpPr>
            <p:cNvPr id="181" name="Google Shape;181;p19"/>
            <p:cNvSpPr/>
            <p:nvPr/>
          </p:nvSpPr>
          <p:spPr>
            <a:xfrm rot="9420272">
              <a:off x="4855953" y="-2246936"/>
              <a:ext cx="8673602" cy="11518530"/>
            </a:xfrm>
            <a:custGeom>
              <a:rect b="b" l="l" r="r" t="t"/>
              <a:pathLst>
                <a:path extrusionOk="0" h="3315" w="2492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9"/>
            <p:cNvSpPr/>
            <p:nvPr/>
          </p:nvSpPr>
          <p:spPr>
            <a:xfrm rot="9420272">
              <a:off x="5048022" y="-2833465"/>
              <a:ext cx="8756895" cy="10755934"/>
            </a:xfrm>
            <a:custGeom>
              <a:rect b="b" l="l" r="r" t="t"/>
              <a:pathLst>
                <a:path extrusionOk="0" h="3095" w="2516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9"/>
            <p:cNvSpPr/>
            <p:nvPr/>
          </p:nvSpPr>
          <p:spPr>
            <a:xfrm rot="9420272">
              <a:off x="5218811" y="-1993836"/>
              <a:ext cx="7570428" cy="10122905"/>
            </a:xfrm>
            <a:custGeom>
              <a:rect b="b" l="l" r="r" t="t"/>
              <a:pathLst>
                <a:path extrusionOk="0" h="2913" w="2175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0">
                  <a:srgbClr val="882BE5"/>
                </a:gs>
                <a:gs pos="19000">
                  <a:srgbClr val="6672E4"/>
                </a:gs>
                <a:gs pos="100000">
                  <a:srgbClr val="7CEFD8"/>
                </a:gs>
              </a:gsLst>
              <a:lin ang="10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